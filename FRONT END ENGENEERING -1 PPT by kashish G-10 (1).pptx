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8" r:id="rId3"/>
    <p:sldId id="257"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k Gupta" userId="d35f67409973ffdb" providerId="LiveId" clId="{CAAB8072-882C-4B8B-82FD-8CB05FE6A7DD}"/>
    <pc:docChg chg="modSld sldOrd">
      <pc:chgData name="Deepak Gupta" userId="d35f67409973ffdb" providerId="LiveId" clId="{CAAB8072-882C-4B8B-82FD-8CB05FE6A7DD}" dt="2023-10-13T05:31:49.185" v="1"/>
      <pc:docMkLst>
        <pc:docMk/>
      </pc:docMkLst>
      <pc:sldChg chg="ord">
        <pc:chgData name="Deepak Gupta" userId="d35f67409973ffdb" providerId="LiveId" clId="{CAAB8072-882C-4B8B-82FD-8CB05FE6A7DD}" dt="2023-10-13T05:31:49.185" v="1"/>
        <pc:sldMkLst>
          <pc:docMk/>
          <pc:sldMk cId="1561720887"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BE6FB36F-222C-4687-A82D-E7214809E67C}" type="datetimeFigureOut">
              <a:rPr lang="en-IN" smtClean="0"/>
              <a:t>12-10-2023</a:t>
            </a:fld>
            <a:endParaRPr lang="en-IN"/>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0EF74DF9-8732-43EB-BB91-E4D37CF3E47E}"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2328306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6FB36F-222C-4687-A82D-E7214809E67C}" type="datetimeFigureOut">
              <a:rPr lang="en-IN" smtClean="0"/>
              <a:t>12-10-2023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F74DF9-8732-43EB-BB91-E4D37CF3E47E}" type="slidenum">
              <a:rPr lang="en-IN" smtClean="0"/>
              <a:t>‹#›</a:t>
            </a:fld>
            <a:endParaRPr lang="en-IN"/>
          </a:p>
        </p:txBody>
      </p:sp>
    </p:spTree>
    <p:extLst>
      <p:ext uri="{BB962C8B-B14F-4D97-AF65-F5344CB8AC3E}">
        <p14:creationId xmlns:p14="http://schemas.microsoft.com/office/powerpoint/2010/main" val="278286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6FB36F-222C-4687-A82D-E7214809E67C}" type="datetimeFigureOut">
              <a:rPr lang="en-IN" smtClean="0"/>
              <a:t>12-10-2023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F74DF9-8732-43EB-BB91-E4D37CF3E47E}"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46269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6FB36F-222C-4687-A82D-E7214809E67C}" type="datetimeFigureOut">
              <a:rPr lang="en-IN" smtClean="0"/>
              <a:t>12-10-2023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F74DF9-8732-43EB-BB91-E4D37CF3E47E}" type="slidenum">
              <a:rPr lang="en-IN" smtClean="0"/>
              <a:t>‹#›</a:t>
            </a:fld>
            <a:endParaRPr lang="en-IN"/>
          </a:p>
        </p:txBody>
      </p:sp>
    </p:spTree>
    <p:extLst>
      <p:ext uri="{BB962C8B-B14F-4D97-AF65-F5344CB8AC3E}">
        <p14:creationId xmlns:p14="http://schemas.microsoft.com/office/powerpoint/2010/main" val="647863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6FB36F-222C-4687-A82D-E7214809E67C}" type="datetimeFigureOut">
              <a:rPr lang="en-IN" smtClean="0"/>
              <a:t>12-10-2023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EF74DF9-8732-43EB-BB91-E4D37CF3E47E}" type="slidenum">
              <a:rPr lang="en-IN" smtClean="0"/>
              <a:t>‹#›</a:t>
            </a:fld>
            <a:endParaRPr lang="en-IN"/>
          </a:p>
        </p:txBody>
      </p:sp>
    </p:spTree>
    <p:extLst>
      <p:ext uri="{BB962C8B-B14F-4D97-AF65-F5344CB8AC3E}">
        <p14:creationId xmlns:p14="http://schemas.microsoft.com/office/powerpoint/2010/main" val="1864041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6FB36F-222C-4687-A82D-E7214809E67C}" type="datetimeFigureOut">
              <a:rPr lang="en-IN" smtClean="0"/>
              <a:t>12-10-2023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EF74DF9-8732-43EB-BB91-E4D37CF3E47E}" type="slidenum">
              <a:rPr lang="en-IN" smtClean="0"/>
              <a:t>‹#›</a:t>
            </a:fld>
            <a:endParaRPr lang="en-IN"/>
          </a:p>
        </p:txBody>
      </p:sp>
    </p:spTree>
    <p:extLst>
      <p:ext uri="{BB962C8B-B14F-4D97-AF65-F5344CB8AC3E}">
        <p14:creationId xmlns:p14="http://schemas.microsoft.com/office/powerpoint/2010/main" val="84207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6FB36F-222C-4687-A82D-E7214809E67C}" type="datetimeFigureOut">
              <a:rPr lang="en-IN" smtClean="0"/>
              <a:t>12-10-2023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EF74DF9-8732-43EB-BB91-E4D37CF3E47E}" type="slidenum">
              <a:rPr lang="en-IN" smtClean="0"/>
              <a:t>‹#›</a:t>
            </a:fld>
            <a:endParaRPr lang="en-IN"/>
          </a:p>
        </p:txBody>
      </p:sp>
    </p:spTree>
    <p:extLst>
      <p:ext uri="{BB962C8B-B14F-4D97-AF65-F5344CB8AC3E}">
        <p14:creationId xmlns:p14="http://schemas.microsoft.com/office/powerpoint/2010/main" val="3975507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6FB36F-222C-4687-A82D-E7214809E67C}" type="datetimeFigureOut">
              <a:rPr lang="en-IN" smtClean="0"/>
              <a:t>12-10-2023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F74DF9-8732-43EB-BB91-E4D37CF3E47E}" type="slidenum">
              <a:rPr lang="en-IN" smtClean="0"/>
              <a:t>‹#›</a:t>
            </a:fld>
            <a:endParaRPr lang="en-IN"/>
          </a:p>
        </p:txBody>
      </p:sp>
    </p:spTree>
    <p:extLst>
      <p:ext uri="{BB962C8B-B14F-4D97-AF65-F5344CB8AC3E}">
        <p14:creationId xmlns:p14="http://schemas.microsoft.com/office/powerpoint/2010/main" val="2653546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6FB36F-222C-4687-A82D-E7214809E67C}" type="datetimeFigureOut">
              <a:rPr lang="en-IN" smtClean="0"/>
              <a:t>12-10-2023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F74DF9-8732-43EB-BB91-E4D37CF3E47E}" type="slidenum">
              <a:rPr lang="en-IN" smtClean="0"/>
              <a:t>‹#›</a:t>
            </a:fld>
            <a:endParaRPr lang="en-IN"/>
          </a:p>
        </p:txBody>
      </p:sp>
    </p:spTree>
    <p:extLst>
      <p:ext uri="{BB962C8B-B14F-4D97-AF65-F5344CB8AC3E}">
        <p14:creationId xmlns:p14="http://schemas.microsoft.com/office/powerpoint/2010/main" val="379200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6FB36F-222C-4687-A82D-E7214809E67C}" type="datetimeFigureOut">
              <a:rPr lang="en-IN" smtClean="0"/>
              <a:t>12-10-2023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F74DF9-8732-43EB-BB91-E4D37CF3E47E}" type="slidenum">
              <a:rPr lang="en-IN" smtClean="0"/>
              <a:t>‹#›</a:t>
            </a:fld>
            <a:endParaRPr lang="en-IN"/>
          </a:p>
        </p:txBody>
      </p:sp>
    </p:spTree>
    <p:extLst>
      <p:ext uri="{BB962C8B-B14F-4D97-AF65-F5344CB8AC3E}">
        <p14:creationId xmlns:p14="http://schemas.microsoft.com/office/powerpoint/2010/main" val="3010011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6FB36F-222C-4687-A82D-E7214809E67C}" type="datetimeFigureOut">
              <a:rPr lang="en-IN" smtClean="0"/>
              <a:t>12-10-2023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F74DF9-8732-43EB-BB91-E4D37CF3E47E}" type="slidenum">
              <a:rPr lang="en-IN" smtClean="0"/>
              <a:t>‹#›</a:t>
            </a:fld>
            <a:endParaRPr lang="en-IN"/>
          </a:p>
        </p:txBody>
      </p:sp>
    </p:spTree>
    <p:extLst>
      <p:ext uri="{BB962C8B-B14F-4D97-AF65-F5344CB8AC3E}">
        <p14:creationId xmlns:p14="http://schemas.microsoft.com/office/powerpoint/2010/main" val="269517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BE6FB36F-222C-4687-A82D-E7214809E67C}" type="datetimeFigureOut">
              <a:rPr lang="en-IN" smtClean="0"/>
              <a:t>12-10-2023</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0EF74DF9-8732-43EB-BB91-E4D37CF3E47E}" type="slidenum">
              <a:rPr lang="en-IN" smtClean="0"/>
              <a:t>‹#›</a:t>
            </a:fld>
            <a:endParaRPr lang="en-IN"/>
          </a:p>
        </p:txBody>
      </p:sp>
    </p:spTree>
    <p:extLst>
      <p:ext uri="{BB962C8B-B14F-4D97-AF65-F5344CB8AC3E}">
        <p14:creationId xmlns:p14="http://schemas.microsoft.com/office/powerpoint/2010/main" val="2842399129"/>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CB6EA5-6E58-FA8F-47C1-36DDB7F82226}"/>
              </a:ext>
            </a:extLst>
          </p:cNvPr>
          <p:cNvSpPr>
            <a:spLocks noGrp="1"/>
          </p:cNvSpPr>
          <p:nvPr>
            <p:ph type="title"/>
          </p:nvPr>
        </p:nvSpPr>
        <p:spPr>
          <a:xfrm>
            <a:off x="1261872" y="831273"/>
            <a:ext cx="9692640" cy="1565563"/>
          </a:xfrm>
        </p:spPr>
        <p:txBody>
          <a:bodyPr>
            <a:normAutofit/>
          </a:bodyPr>
          <a:lstStyle/>
          <a:p>
            <a:pPr marL="522605" indent="-457835"/>
            <a:r>
              <a:rPr lang="en-US" sz="3100" b="1" dirty="0">
                <a:effectLst/>
                <a:latin typeface="Times New Roman" panose="02020603050405020304" pitchFamily="18" charset="0"/>
                <a:ea typeface="Times New Roman" panose="02020603050405020304" pitchFamily="18" charset="0"/>
              </a:rPr>
              <a:t>                       FRONT END ENGINEERING-1</a:t>
            </a:r>
            <a:br>
              <a:rPr lang="en-IN" sz="1800" dirty="0">
                <a:effectLst/>
                <a:latin typeface="Times New Roman" panose="02020603050405020304" pitchFamily="18" charset="0"/>
                <a:ea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r>
              <a:rPr lang="en-IN" sz="2700" dirty="0">
                <a:effectLst/>
                <a:latin typeface="Times New Roman" panose="02020603050405020304" pitchFamily="18" charset="0"/>
                <a:ea typeface="Times New Roman" panose="02020603050405020304" pitchFamily="18" charset="0"/>
              </a:rPr>
              <a:t>                                          </a:t>
            </a:r>
            <a:r>
              <a:rPr lang="en-US" sz="2700" b="1" dirty="0">
                <a:effectLst/>
                <a:latin typeface="Times New Roman" panose="02020603050405020304" pitchFamily="18" charset="0"/>
                <a:ea typeface="Times New Roman" panose="02020603050405020304" pitchFamily="18" charset="0"/>
              </a:rPr>
              <a:t>PROJECT 1</a:t>
            </a:r>
            <a:br>
              <a:rPr lang="en-IN" sz="2700" dirty="0">
                <a:effectLst/>
                <a:latin typeface="Times New Roman" panose="02020603050405020304" pitchFamily="18" charset="0"/>
                <a:ea typeface="Times New Roman" panose="02020603050405020304" pitchFamily="18" charset="0"/>
              </a:rPr>
            </a:br>
            <a:endParaRPr lang="en-IN" sz="2700" dirty="0"/>
          </a:p>
        </p:txBody>
      </p:sp>
      <p:sp>
        <p:nvSpPr>
          <p:cNvPr id="5" name="Content Placeholder 4">
            <a:extLst>
              <a:ext uri="{FF2B5EF4-FFF2-40B4-BE49-F238E27FC236}">
                <a16:creationId xmlns:a16="http://schemas.microsoft.com/office/drawing/2014/main" id="{8D634BC7-D226-A0C3-2EA8-02E3631D284D}"/>
              </a:ext>
            </a:extLst>
          </p:cNvPr>
          <p:cNvSpPr>
            <a:spLocks noGrp="1"/>
          </p:cNvSpPr>
          <p:nvPr>
            <p:ph idx="1"/>
          </p:nvPr>
        </p:nvSpPr>
        <p:spPr>
          <a:xfrm>
            <a:off x="1261872" y="2396836"/>
            <a:ext cx="8595360" cy="4461163"/>
          </a:xfrm>
        </p:spPr>
        <p:txBody>
          <a:bodyPr>
            <a:normAutofit fontScale="92500" lnSpcReduction="20000"/>
          </a:bodyPr>
          <a:lstStyle/>
          <a:p>
            <a:pPr marL="64770" indent="0">
              <a:buNone/>
            </a:pPr>
            <a:r>
              <a:rPr lang="en-US" sz="1900" b="1" dirty="0">
                <a:effectLst/>
                <a:latin typeface="Times New Roman" panose="02020603050405020304" pitchFamily="18" charset="0"/>
                <a:ea typeface="Times New Roman" panose="02020603050405020304" pitchFamily="18" charset="0"/>
              </a:rPr>
              <a:t>TEAM DETAILS</a:t>
            </a:r>
            <a:endParaRPr lang="en-IN" sz="1900" dirty="0">
              <a:effectLst/>
              <a:latin typeface="Times New Roman" panose="02020603050405020304" pitchFamily="18" charset="0"/>
              <a:ea typeface="Times New Roman" panose="02020603050405020304" pitchFamily="18" charset="0"/>
            </a:endParaRPr>
          </a:p>
          <a:p>
            <a:pPr marL="64770" indent="0">
              <a:buNone/>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64770" indent="0">
              <a:buNone/>
            </a:pPr>
            <a:r>
              <a:rPr lang="en-US" sz="1800" b="1" dirty="0">
                <a:effectLst/>
                <a:latin typeface="Times New Roman" panose="02020603050405020304" pitchFamily="18" charset="0"/>
                <a:ea typeface="Times New Roman" panose="02020603050405020304" pitchFamily="18" charset="0"/>
              </a:rPr>
              <a:t>S NO.                     NAME                ROLL NO.</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1800" dirty="0">
                <a:effectLst/>
                <a:latin typeface="Times New Roman" panose="02020603050405020304" pitchFamily="18" charset="0"/>
                <a:ea typeface="Times New Roman" panose="02020603050405020304" pitchFamily="18" charset="0"/>
              </a:rPr>
              <a:t>                            Kashish              2310990792</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1800" dirty="0">
                <a:effectLst/>
                <a:latin typeface="Times New Roman" panose="02020603050405020304" pitchFamily="18" charset="0"/>
                <a:ea typeface="Times New Roman" panose="02020603050405020304" pitchFamily="18" charset="0"/>
              </a:rPr>
              <a:t>                            Kashvi                2310990793 </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1800" dirty="0">
                <a:effectLst/>
                <a:latin typeface="Times New Roman" panose="02020603050405020304" pitchFamily="18" charset="0"/>
                <a:ea typeface="Times New Roman" panose="02020603050405020304" pitchFamily="18" charset="0"/>
              </a:rPr>
              <a:t>                            Kavya                 2310990794</a:t>
            </a:r>
            <a:endParaRPr lang="en-IN" sz="1800" dirty="0">
              <a:effectLst/>
              <a:latin typeface="Times New Roman" panose="02020603050405020304" pitchFamily="18" charset="0"/>
              <a:ea typeface="Times New Roman" panose="02020603050405020304" pitchFamily="18" charset="0"/>
            </a:endParaRPr>
          </a:p>
          <a:p>
            <a:pPr marL="64770" indent="0">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0" indent="0">
              <a:buNone/>
            </a:pPr>
            <a:r>
              <a:rPr lang="en-US" sz="1800" b="1" dirty="0">
                <a:effectLst/>
                <a:latin typeface="Times New Roman" panose="02020603050405020304" pitchFamily="18" charset="0"/>
                <a:ea typeface="Times New Roman" panose="02020603050405020304" pitchFamily="18" charset="0"/>
              </a:rPr>
              <a:t>Submitted to-</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Faculty name- Ms. Gunjan Thakur</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Designation- Teacher</a:t>
            </a:r>
            <a:endParaRPr lang="en-IN" sz="1800" dirty="0">
              <a:effectLst/>
              <a:latin typeface="Times New Roman" panose="02020603050405020304" pitchFamily="18" charset="0"/>
              <a:ea typeface="Times New Roman" panose="02020603050405020304" pitchFamily="18" charset="0"/>
            </a:endParaRPr>
          </a:p>
          <a:p>
            <a:r>
              <a:rPr lang="en-US" sz="1800" dirty="0" err="1">
                <a:effectLst/>
                <a:latin typeface="Times New Roman" panose="02020603050405020304" pitchFamily="18" charset="0"/>
                <a:ea typeface="Times New Roman" panose="02020603050405020304" pitchFamily="18" charset="0"/>
              </a:rPr>
              <a:t>Chitkara</a:t>
            </a:r>
            <a:r>
              <a:rPr lang="en-US" sz="1800" dirty="0">
                <a:effectLst/>
                <a:latin typeface="Times New Roman" panose="02020603050405020304" pitchFamily="18" charset="0"/>
                <a:ea typeface="Times New Roman" panose="02020603050405020304" pitchFamily="18" charset="0"/>
              </a:rPr>
              <a:t> University Rajpura, Punjab </a:t>
            </a:r>
            <a:endParaRPr lang="en-IN" sz="1800" dirty="0">
              <a:effectLst/>
              <a:latin typeface="Times New Roman" panose="02020603050405020304" pitchFamily="18" charset="0"/>
              <a:ea typeface="Times New Roman" panose="02020603050405020304" pitchFamily="18" charset="0"/>
            </a:endParaRPr>
          </a:p>
          <a:p>
            <a:endParaRPr lang="en-IN" dirty="0"/>
          </a:p>
        </p:txBody>
      </p:sp>
      <p:pic>
        <p:nvPicPr>
          <p:cNvPr id="3074" name="Picture 2" descr="Chitkara University">
            <a:extLst>
              <a:ext uri="{FF2B5EF4-FFF2-40B4-BE49-F238E27FC236}">
                <a16:creationId xmlns:a16="http://schemas.microsoft.com/office/drawing/2014/main" id="{40875C5B-69B3-A1E0-02E6-864A660EF9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4400" y="0"/>
            <a:ext cx="4330412" cy="842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8727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43E9C-F110-25B0-BA68-E14101131E5B}"/>
              </a:ext>
            </a:extLst>
          </p:cNvPr>
          <p:cNvSpPr>
            <a:spLocks noGrp="1"/>
          </p:cNvSpPr>
          <p:nvPr>
            <p:ph type="title"/>
          </p:nvPr>
        </p:nvSpPr>
        <p:spPr>
          <a:xfrm>
            <a:off x="873945" y="762000"/>
            <a:ext cx="9692640" cy="1219200"/>
          </a:xfrm>
        </p:spPr>
        <p:txBody>
          <a:bodyPr>
            <a:normAutofit/>
          </a:bodyPr>
          <a:lstStyle/>
          <a:p>
            <a:r>
              <a:rPr lang="en-US" sz="3600" b="1" dirty="0">
                <a:effectLst/>
                <a:latin typeface="Times New Roman" panose="02020603050405020304" pitchFamily="18" charset="0"/>
                <a:ea typeface="Times New Roman" panose="02020603050405020304" pitchFamily="18" charset="0"/>
              </a:rPr>
              <a:t>INTRODUCTION</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F7F2A0F-B7FB-EF71-91D0-B1BDB6C9A0F8}"/>
              </a:ext>
            </a:extLst>
          </p:cNvPr>
          <p:cNvSpPr>
            <a:spLocks noGrp="1"/>
          </p:cNvSpPr>
          <p:nvPr>
            <p:ph idx="1"/>
          </p:nvPr>
        </p:nvSpPr>
        <p:spPr>
          <a:xfrm>
            <a:off x="1103312" y="1454727"/>
            <a:ext cx="8946541" cy="5999018"/>
          </a:xfrm>
        </p:spPr>
        <p:txBody>
          <a:bodyPr>
            <a:normAutofit fontScale="25000" lnSpcReduction="20000"/>
          </a:bodyPr>
          <a:lstStyle/>
          <a:p>
            <a:pPr marL="0" indent="0">
              <a:spcBef>
                <a:spcPts val="1500"/>
              </a:spcBef>
              <a:spcAft>
                <a:spcPts val="1500"/>
              </a:spcAft>
              <a:buNone/>
            </a:pPr>
            <a:r>
              <a:rPr lang="en-IN" sz="8000" dirty="0">
                <a:effectLst/>
                <a:latin typeface="Times New Roman" panose="02020603050405020304" pitchFamily="18" charset="0"/>
                <a:ea typeface="Times New Roman" panose="02020603050405020304" pitchFamily="18" charset="0"/>
              </a:rPr>
              <a:t>Welcome to the exciting world of  Eat 24 c , a revolutionary food ordering site that is set to transform the way people experience and enjoy their favourite meals. In an era defined by convenience, speed, and the desire for diverse culinary experiences, Eat 24 emerges as the ultimate solution for all your food cravings. </a:t>
            </a:r>
          </a:p>
          <a:p>
            <a:pPr marL="0" indent="0">
              <a:spcBef>
                <a:spcPts val="1500"/>
              </a:spcBef>
              <a:spcAft>
                <a:spcPts val="1500"/>
              </a:spcAft>
              <a:buNone/>
            </a:pPr>
            <a:r>
              <a:rPr lang="en-IN" sz="8000" dirty="0">
                <a:effectLst/>
                <a:latin typeface="Times New Roman" panose="02020603050405020304" pitchFamily="18" charset="0"/>
                <a:ea typeface="Times New Roman" panose="02020603050405020304" pitchFamily="18" charset="0"/>
              </a:rPr>
              <a:t>This project is the culmination of meticulous planning, cutting-edge technology, and a deep passion for gastronomy. As the world becomes increasingly interconnected, the demand for seamless and efficient food ordering platforms has never been higher. Eat 24 aims to meet this demand by providing a user-friendly, efficient, and delightful food ordering experience for customers and an effective platform for restaurants to expand their reach and grow their business.</a:t>
            </a:r>
          </a:p>
          <a:p>
            <a:pPr marL="0" indent="0">
              <a:spcBef>
                <a:spcPts val="1500"/>
              </a:spcBef>
              <a:spcAft>
                <a:spcPts val="1500"/>
              </a:spcAft>
              <a:buNone/>
            </a:pPr>
            <a:r>
              <a:rPr lang="en-IN" sz="8000" dirty="0">
                <a:effectLst/>
                <a:latin typeface="Times New Roman" panose="02020603050405020304" pitchFamily="18" charset="0"/>
                <a:ea typeface="Times New Roman" panose="02020603050405020304" pitchFamily="18" charset="0"/>
              </a:rPr>
              <a:t>In this project file, we will delve into the details of Eat 24, exploring its objectives, features, development process, and the vision behind this </a:t>
            </a:r>
            <a:r>
              <a:rPr lang="en-IN" sz="8000" dirty="0" err="1">
                <a:effectLst/>
                <a:latin typeface="Times New Roman" panose="02020603050405020304" pitchFamily="18" charset="0"/>
                <a:ea typeface="Times New Roman" panose="02020603050405020304" pitchFamily="18" charset="0"/>
              </a:rPr>
              <a:t>endeavor</a:t>
            </a:r>
            <a:r>
              <a:rPr lang="en-IN" sz="8000" dirty="0">
                <a:effectLst/>
                <a:latin typeface="Times New Roman" panose="02020603050405020304" pitchFamily="18" charset="0"/>
                <a:ea typeface="Times New Roman" panose="02020603050405020304" pitchFamily="18" charset="0"/>
              </a:rPr>
              <a:t>. From understanding the market dynamics to dissecting the technical architecture, this document will serve as a comprehensive guide to our journey in creating an exceptional food ordering platform.</a:t>
            </a:r>
          </a:p>
          <a:p>
            <a:pPr marL="0" indent="0">
              <a:spcBef>
                <a:spcPts val="1500"/>
              </a:spcBef>
              <a:spcAft>
                <a:spcPts val="1500"/>
              </a:spcAft>
              <a:buNone/>
            </a:pPr>
            <a:r>
              <a:rPr lang="en-IN" sz="8000" dirty="0">
                <a:effectLst/>
                <a:latin typeface="Times New Roman" panose="02020603050405020304" pitchFamily="18" charset="0"/>
                <a:ea typeface="Times New Roman" panose="02020603050405020304" pitchFamily="18" charset="0"/>
              </a:rPr>
              <a:t>Let's embark on this culinary adventure together and discover how eat 24 is poised to redefine the way we order, saviour, and share our favourite meals. Get ready to experience the future of food ordering !</a:t>
            </a:r>
            <a:endParaRPr lang="en-IN" sz="1800" dirty="0">
              <a:effectLst/>
              <a:latin typeface="Times New Roman" panose="02020603050405020304" pitchFamily="18" charset="0"/>
              <a:ea typeface="Times New Roman" panose="02020603050405020304" pitchFamily="18" charset="0"/>
            </a:endParaRPr>
          </a:p>
          <a:p>
            <a:pPr marL="0" indent="0">
              <a:spcBef>
                <a:spcPts val="1500"/>
              </a:spcBef>
              <a:spcAft>
                <a:spcPts val="1500"/>
              </a:spcAft>
              <a:buNone/>
            </a:pPr>
            <a:r>
              <a:rPr lang="en-IN" sz="8000" dirty="0">
                <a:effectLst/>
                <a:latin typeface="Times New Roman" panose="02020603050405020304" pitchFamily="18" charset="0"/>
                <a:ea typeface="Times New Roman" panose="02020603050405020304" pitchFamily="18" charset="0"/>
              </a:rPr>
              <a:t>   </a:t>
            </a:r>
          </a:p>
          <a:p>
            <a:pPr marL="0" indent="0">
              <a:spcBef>
                <a:spcPts val="1500"/>
              </a:spcBef>
              <a:spcAft>
                <a:spcPts val="1500"/>
              </a:spcAft>
              <a:buNone/>
            </a:pPr>
            <a:r>
              <a:rPr lang="en-IN" sz="80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0" indent="0">
              <a:spcBef>
                <a:spcPts val="1500"/>
              </a:spcBef>
              <a:spcAft>
                <a:spcPts val="1500"/>
              </a:spcAft>
              <a:buNone/>
            </a:pPr>
            <a:endParaRPr lang="en-IN" sz="1800" dirty="0">
              <a:effectLst/>
              <a:latin typeface="Times New Roman" panose="02020603050405020304" pitchFamily="18" charset="0"/>
              <a:ea typeface="Times New Roman" panose="02020603050405020304" pitchFamily="18" charset="0"/>
            </a:endParaRPr>
          </a:p>
          <a:p>
            <a:pPr marL="0" indent="0">
              <a:spcBef>
                <a:spcPts val="1500"/>
              </a:spcBef>
              <a:spcAft>
                <a:spcPts val="1500"/>
              </a:spcAft>
              <a:buNone/>
            </a:pPr>
            <a:endParaRPr lang="en-IN" sz="1800" dirty="0">
              <a:effectLst/>
              <a:latin typeface="Times New Roman" panose="02020603050405020304" pitchFamily="18" charset="0"/>
              <a:ea typeface="Times New Roman" panose="02020603050405020304" pitchFamily="18" charset="0"/>
            </a:endParaRPr>
          </a:p>
          <a:p>
            <a:pPr marL="0" indent="0">
              <a:spcBef>
                <a:spcPts val="1500"/>
              </a:spcBef>
              <a:spcAft>
                <a:spcPts val="1500"/>
              </a:spcAft>
              <a:buNone/>
            </a:pPr>
            <a:endParaRPr lang="en-IN" sz="1800" dirty="0">
              <a:effectLst/>
              <a:latin typeface="Times New Roman" panose="02020603050405020304" pitchFamily="18" charset="0"/>
              <a:ea typeface="Times New Roman" panose="02020603050405020304" pitchFamily="18" charset="0"/>
            </a:endParaRPr>
          </a:p>
          <a:p>
            <a:pPr marL="0" indent="0">
              <a:spcBef>
                <a:spcPts val="1500"/>
              </a:spcBef>
              <a:spcAft>
                <a:spcPts val="1500"/>
              </a:spcAft>
              <a:buNone/>
            </a:pPr>
            <a:endParaRPr lang="en-IN" sz="1800" dirty="0">
              <a:effectLst/>
              <a:latin typeface="Times New Roman" panose="02020603050405020304" pitchFamily="18" charset="0"/>
              <a:ea typeface="Times New Roman" panose="02020603050405020304" pitchFamily="18" charset="0"/>
            </a:endParaRPr>
          </a:p>
        </p:txBody>
      </p:sp>
      <p:pic>
        <p:nvPicPr>
          <p:cNvPr id="5122" name="Picture 2" descr="Chitkara University">
            <a:extLst>
              <a:ext uri="{FF2B5EF4-FFF2-40B4-BE49-F238E27FC236}">
                <a16:creationId xmlns:a16="http://schemas.microsoft.com/office/drawing/2014/main" id="{6139FBAA-E70E-D14B-9106-39B32950AB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3782" y="0"/>
            <a:ext cx="4087092" cy="969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9653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DC903-60B2-BE7E-F107-FA6C7CD6ED9C}"/>
              </a:ext>
            </a:extLst>
          </p:cNvPr>
          <p:cNvSpPr>
            <a:spLocks noGrp="1"/>
          </p:cNvSpPr>
          <p:nvPr>
            <p:ph type="title"/>
          </p:nvPr>
        </p:nvSpPr>
        <p:spPr>
          <a:xfrm>
            <a:off x="1261872" y="886690"/>
            <a:ext cx="9692640" cy="1343891"/>
          </a:xfrm>
        </p:spPr>
        <p:txBody>
          <a:bodyPr/>
          <a:lstStyle/>
          <a:p>
            <a:r>
              <a:rPr lang="en-US" sz="3600" b="1" dirty="0">
                <a:effectLst/>
                <a:latin typeface="Times New Roman" panose="02020603050405020304" pitchFamily="18" charset="0"/>
                <a:ea typeface="Times New Roman" panose="02020603050405020304" pitchFamily="18" charset="0"/>
              </a:rPr>
              <a:t>TABLE OF CONTENT</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ACB6E53-A547-E241-ED22-8F6CE6356E07}"/>
              </a:ext>
            </a:extLst>
          </p:cNvPr>
          <p:cNvSpPr>
            <a:spLocks noGrp="1"/>
          </p:cNvSpPr>
          <p:nvPr>
            <p:ph idx="1"/>
          </p:nvPr>
        </p:nvSpPr>
        <p:spPr>
          <a:xfrm>
            <a:off x="1261872" y="2119745"/>
            <a:ext cx="8595360" cy="4060392"/>
          </a:xfrm>
        </p:spPr>
        <p:txBody>
          <a:bodyPr/>
          <a:lstStyle/>
          <a:p>
            <a:pPr marL="342900" lvl="0" indent="-342900">
              <a:buFont typeface="+mj-lt"/>
              <a:buAutoNum type="arabicPeriod"/>
            </a:pPr>
            <a:r>
              <a:rPr lang="en-US" sz="2400" b="1" u="sng" dirty="0">
                <a:latin typeface="Times New Roman" panose="02020603050405020304" pitchFamily="18" charset="0"/>
                <a:ea typeface="Times New Roman" panose="02020603050405020304" pitchFamily="18" charset="0"/>
              </a:rPr>
              <a:t>INTRODUCTION</a:t>
            </a:r>
            <a:endParaRPr lang="en-IN" sz="24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2400" b="1" u="sng" dirty="0">
                <a:effectLst/>
                <a:latin typeface="Times New Roman" panose="02020603050405020304" pitchFamily="18" charset="0"/>
                <a:ea typeface="Times New Roman" panose="02020603050405020304" pitchFamily="18" charset="0"/>
              </a:rPr>
              <a:t>PROBLEM STATEMENT</a:t>
            </a:r>
            <a:endParaRPr lang="en-IN" sz="24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2400" b="1" u="sng" dirty="0">
                <a:effectLst/>
                <a:latin typeface="Times New Roman" panose="02020603050405020304" pitchFamily="18" charset="0"/>
                <a:ea typeface="Times New Roman" panose="02020603050405020304" pitchFamily="18" charset="0"/>
              </a:rPr>
              <a:t>TECHNICAL DETAILS</a:t>
            </a:r>
            <a:endParaRPr lang="en-IN" sz="24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2400" b="1" u="sng" dirty="0">
                <a:effectLst/>
                <a:latin typeface="Times New Roman" panose="02020603050405020304" pitchFamily="18" charset="0"/>
                <a:ea typeface="Times New Roman" panose="02020603050405020304" pitchFamily="18" charset="0"/>
              </a:rPr>
              <a:t>KEY FEATURE PROJECT HIGHLIGHTS</a:t>
            </a:r>
            <a:endParaRPr lang="en-IN" sz="24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2400" b="1" u="sng" dirty="0">
                <a:effectLst/>
                <a:latin typeface="Times New Roman" panose="02020603050405020304" pitchFamily="18" charset="0"/>
                <a:ea typeface="Times New Roman" panose="02020603050405020304" pitchFamily="18" charset="0"/>
              </a:rPr>
              <a:t>CONCLUSION</a:t>
            </a:r>
            <a:endParaRPr lang="en-IN" sz="2400" dirty="0">
              <a:effectLst/>
              <a:latin typeface="Times New Roman" panose="02020603050405020304" pitchFamily="18" charset="0"/>
              <a:ea typeface="Times New Roman" panose="02020603050405020304" pitchFamily="18" charset="0"/>
            </a:endParaRPr>
          </a:p>
          <a:p>
            <a:pPr algn="ct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endParaRPr lang="en-IN" dirty="0"/>
          </a:p>
        </p:txBody>
      </p:sp>
      <p:pic>
        <p:nvPicPr>
          <p:cNvPr id="4098" name="Picture 2" descr="Chitkara University">
            <a:extLst>
              <a:ext uri="{FF2B5EF4-FFF2-40B4-BE49-F238E27FC236}">
                <a16:creationId xmlns:a16="http://schemas.microsoft.com/office/drawing/2014/main" id="{C312B3DD-75B4-C11A-0DD7-798B465775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9817" y="0"/>
            <a:ext cx="4261139" cy="886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1720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973A0-2715-B0A5-B121-41F96132E7DE}"/>
              </a:ext>
            </a:extLst>
          </p:cNvPr>
          <p:cNvSpPr>
            <a:spLocks noGrp="1"/>
          </p:cNvSpPr>
          <p:nvPr>
            <p:ph type="title"/>
          </p:nvPr>
        </p:nvSpPr>
        <p:spPr/>
        <p:txBody>
          <a:bodyPr/>
          <a:lstStyle/>
          <a:p>
            <a:r>
              <a:rPr lang="en-US" dirty="0"/>
              <a:t>PROBLEM STATEMENT</a:t>
            </a:r>
            <a:br>
              <a:rPr lang="en-IN" dirty="0"/>
            </a:br>
            <a:endParaRPr lang="en-IN" dirty="0"/>
          </a:p>
        </p:txBody>
      </p:sp>
      <p:sp>
        <p:nvSpPr>
          <p:cNvPr id="10" name="Content Placeholder 9">
            <a:extLst>
              <a:ext uri="{FF2B5EF4-FFF2-40B4-BE49-F238E27FC236}">
                <a16:creationId xmlns:a16="http://schemas.microsoft.com/office/drawing/2014/main" id="{C2CAE7AE-EA37-BEE4-61EE-CA20EC59A99C}"/>
              </a:ext>
            </a:extLst>
          </p:cNvPr>
          <p:cNvSpPr>
            <a:spLocks noGrp="1"/>
          </p:cNvSpPr>
          <p:nvPr>
            <p:ph idx="1"/>
          </p:nvPr>
        </p:nvSpPr>
        <p:spPr>
          <a:xfrm>
            <a:off x="1103312" y="1510145"/>
            <a:ext cx="8946541" cy="5098473"/>
          </a:xfrm>
        </p:spPr>
        <p:txBody>
          <a:bodyPr>
            <a:normAutofit fontScale="85000" lnSpcReduction="10000"/>
          </a:bodyPr>
          <a:lstStyle/>
          <a:p>
            <a:pPr marL="0" indent="0">
              <a:buNone/>
            </a:pPr>
            <a:r>
              <a:rPr lang="en-IN" sz="1900" dirty="0">
                <a:effectLst/>
                <a:latin typeface="Times New Roman" panose="02020603050405020304" pitchFamily="18" charset="0"/>
                <a:ea typeface="Times New Roman" panose="02020603050405020304" pitchFamily="18" charset="0"/>
              </a:rPr>
              <a:t>In today's fast-paced and digitally-driven world, the traditional methods of ordering food have become increasingly inconvenient and outdated. Customers often encounter a myriad of challenges when attempting to satisfy their culinary cravings, while restaurants face hurdles in efficiently managing orders and expanding their customer base. These challenges include:</a:t>
            </a:r>
          </a:p>
          <a:p>
            <a:pPr marL="342900" lvl="0" indent="-342900">
              <a:tabLst>
                <a:tab pos="457200" algn="l"/>
              </a:tabLst>
            </a:pPr>
            <a:r>
              <a:rPr lang="en-IN" sz="1800" b="1" dirty="0">
                <a:effectLst/>
                <a:latin typeface="Times New Roman" panose="02020603050405020304" pitchFamily="18" charset="0"/>
                <a:ea typeface="Times New Roman" panose="02020603050405020304" pitchFamily="18" charset="0"/>
              </a:rPr>
              <a:t>Limited Accessibility</a:t>
            </a:r>
            <a:r>
              <a:rPr lang="en-IN" sz="1800" dirty="0">
                <a:effectLst/>
                <a:latin typeface="Times New Roman" panose="02020603050405020304" pitchFamily="18" charset="0"/>
                <a:ea typeface="Times New Roman" panose="02020603050405020304" pitchFamily="18" charset="0"/>
              </a:rPr>
              <a:t>: Many potential customers are unable to access a diverse range of culinary options due to geographical constraints or lack of information about local restaurants.</a:t>
            </a:r>
          </a:p>
          <a:p>
            <a:pPr marL="342900" lvl="0" indent="-342900">
              <a:tabLst>
                <a:tab pos="457200" algn="l"/>
              </a:tabLst>
            </a:pPr>
            <a:r>
              <a:rPr lang="en-IN" sz="1800" b="1" dirty="0">
                <a:effectLst/>
                <a:latin typeface="Times New Roman" panose="02020603050405020304" pitchFamily="18" charset="0"/>
                <a:ea typeface="Times New Roman" panose="02020603050405020304" pitchFamily="18" charset="0"/>
              </a:rPr>
              <a:t>Inefficient Ordering Process</a:t>
            </a:r>
            <a:r>
              <a:rPr lang="en-IN" sz="1800" dirty="0">
                <a:effectLst/>
                <a:latin typeface="Times New Roman" panose="02020603050405020304" pitchFamily="18" charset="0"/>
                <a:ea typeface="Times New Roman" panose="02020603050405020304" pitchFamily="18" charset="0"/>
              </a:rPr>
              <a:t>: The current food ordering process often involves long wait times on the phone, miscommunication, and order inaccuracies, leading to a frustrating customer experience.</a:t>
            </a:r>
          </a:p>
          <a:p>
            <a:pPr marL="342900" lvl="0" indent="-342900">
              <a:tabLst>
                <a:tab pos="457200" algn="l"/>
              </a:tabLst>
            </a:pPr>
            <a:r>
              <a:rPr lang="en-IN" sz="1800" b="1" dirty="0">
                <a:effectLst/>
                <a:latin typeface="Times New Roman" panose="02020603050405020304" pitchFamily="18" charset="0"/>
                <a:ea typeface="Times New Roman" panose="02020603050405020304" pitchFamily="18" charset="0"/>
              </a:rPr>
              <a:t>Limited Payment Options</a:t>
            </a:r>
            <a:r>
              <a:rPr lang="en-IN" sz="1800" dirty="0">
                <a:effectLst/>
                <a:latin typeface="Times New Roman" panose="02020603050405020304" pitchFamily="18" charset="0"/>
                <a:ea typeface="Times New Roman" panose="02020603050405020304" pitchFamily="18" charset="0"/>
              </a:rPr>
              <a:t>: Traditional food ordering methods often offer limited payment options, which can be inconvenient for customers who prefer digital transactions.</a:t>
            </a:r>
          </a:p>
          <a:p>
            <a:pPr marL="342900" lvl="0" indent="-342900">
              <a:tabLst>
                <a:tab pos="457200" algn="l"/>
              </a:tabLst>
            </a:pPr>
            <a:r>
              <a:rPr lang="en-IN" sz="1800" b="1" dirty="0">
                <a:effectLst/>
                <a:latin typeface="Times New Roman" panose="02020603050405020304" pitchFamily="18" charset="0"/>
                <a:ea typeface="Times New Roman" panose="02020603050405020304" pitchFamily="18" charset="0"/>
              </a:rPr>
              <a:t>Lack of Menu Information</a:t>
            </a:r>
            <a:r>
              <a:rPr lang="en-IN" sz="1800" dirty="0">
                <a:effectLst/>
                <a:latin typeface="Times New Roman" panose="02020603050405020304" pitchFamily="18" charset="0"/>
                <a:ea typeface="Times New Roman" panose="02020603050405020304" pitchFamily="18" charset="0"/>
              </a:rPr>
              <a:t>: Customers may struggle to access detailed menu information, including ingredients, nutritional content, and special dietary options, leading to uncertainty and dissatisfaction.</a:t>
            </a:r>
          </a:p>
          <a:p>
            <a:pPr marL="342900" lvl="0" indent="-342900">
              <a:tabLst>
                <a:tab pos="457200" algn="l"/>
              </a:tabLst>
            </a:pPr>
            <a:r>
              <a:rPr lang="en-IN" sz="1800" b="1" dirty="0">
                <a:effectLst/>
                <a:latin typeface="Times New Roman" panose="02020603050405020304" pitchFamily="18" charset="0"/>
                <a:ea typeface="Times New Roman" panose="02020603050405020304" pitchFamily="18" charset="0"/>
              </a:rPr>
              <a:t>Inadequate Restaurant Management Tools</a:t>
            </a:r>
            <a:r>
              <a:rPr lang="en-IN" sz="1800" dirty="0">
                <a:effectLst/>
                <a:latin typeface="Times New Roman" panose="02020603050405020304" pitchFamily="18" charset="0"/>
                <a:ea typeface="Times New Roman" panose="02020603050405020304" pitchFamily="18" charset="0"/>
              </a:rPr>
              <a:t>: Restaurants face difficulties in efficiently managing orders, tracking inventory, and </a:t>
            </a:r>
            <a:r>
              <a:rPr lang="en-IN" sz="1800" dirty="0" err="1">
                <a:effectLst/>
                <a:latin typeface="Times New Roman" panose="02020603050405020304" pitchFamily="18" charset="0"/>
                <a:ea typeface="Times New Roman" panose="02020603050405020304" pitchFamily="18" charset="0"/>
              </a:rPr>
              <a:t>analyzing</a:t>
            </a:r>
            <a:r>
              <a:rPr lang="en-IN" sz="1800" dirty="0">
                <a:effectLst/>
                <a:latin typeface="Times New Roman" panose="02020603050405020304" pitchFamily="18" charset="0"/>
                <a:ea typeface="Times New Roman" panose="02020603050405020304" pitchFamily="18" charset="0"/>
              </a:rPr>
              <a:t> customer data, hindering their growth and profitability.</a:t>
            </a:r>
          </a:p>
          <a:p>
            <a:pPr marL="342900" lvl="0" indent="-342900">
              <a:tabLst>
                <a:tab pos="457200" algn="l"/>
              </a:tabLst>
            </a:pPr>
            <a:r>
              <a:rPr lang="en-IN" sz="1800" b="1" dirty="0">
                <a:effectLst/>
                <a:latin typeface="Times New Roman" panose="02020603050405020304" pitchFamily="18" charset="0"/>
                <a:ea typeface="Times New Roman" panose="02020603050405020304" pitchFamily="18" charset="0"/>
              </a:rPr>
              <a:t>Market Fragmentation</a:t>
            </a:r>
            <a:r>
              <a:rPr lang="en-IN" sz="1800" dirty="0">
                <a:effectLst/>
                <a:latin typeface="Times New Roman" panose="02020603050405020304" pitchFamily="18" charset="0"/>
                <a:ea typeface="Times New Roman" panose="02020603050405020304" pitchFamily="18" charset="0"/>
              </a:rPr>
              <a:t>: The food industry is highly fragmented, with restaurants operating independently and lacking a unified platform to reach a wider customer base.</a:t>
            </a:r>
          </a:p>
          <a:p>
            <a:pPr marL="342900" lvl="0" indent="-342900">
              <a:tabLst>
                <a:tab pos="457200" algn="l"/>
              </a:tabLst>
            </a:pPr>
            <a:r>
              <a:rPr lang="en-IN" sz="1800" b="1" dirty="0">
                <a:effectLst/>
                <a:latin typeface="Times New Roman" panose="02020603050405020304" pitchFamily="18" charset="0"/>
                <a:ea typeface="Times New Roman" panose="02020603050405020304" pitchFamily="18" charset="0"/>
              </a:rPr>
              <a:t>Lack of Personalization</a:t>
            </a:r>
            <a:r>
              <a:rPr lang="en-IN" sz="1800" dirty="0">
                <a:effectLst/>
                <a:latin typeface="Times New Roman" panose="02020603050405020304" pitchFamily="18" charset="0"/>
                <a:ea typeface="Times New Roman" panose="02020603050405020304" pitchFamily="18" charset="0"/>
              </a:rPr>
              <a:t>: Current food ordering methods often fail to provide personalized recommendations and experiences tailored to individual customer preferences.</a:t>
            </a:r>
          </a:p>
          <a:p>
            <a:pPr marL="342900" lvl="0" indent="-342900">
              <a:tabLst>
                <a:tab pos="457200" algn="l"/>
              </a:tabLst>
            </a:pPr>
            <a:endParaRPr lang="en-IN" sz="1800" dirty="0">
              <a:latin typeface="Times New Roman" panose="02020603050405020304" pitchFamily="18" charset="0"/>
              <a:ea typeface="Times New Roman" panose="02020603050405020304" pitchFamily="18" charset="0"/>
            </a:endParaRPr>
          </a:p>
          <a:p>
            <a:pPr marL="342900" lvl="0" indent="-342900">
              <a:tabLst>
                <a:tab pos="457200" algn="l"/>
              </a:tabLst>
            </a:pPr>
            <a:endParaRPr lang="en-IN"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endParaRPr lang="en-IN"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endParaRPr lang="en-IN" sz="1800" dirty="0">
              <a:latin typeface="Times New Roman" panose="02020603050405020304" pitchFamily="18" charset="0"/>
              <a:ea typeface="Times New Roman" panose="02020603050405020304" pitchFamily="18" charset="0"/>
            </a:endParaRPr>
          </a:p>
          <a:p>
            <a:pPr marL="0" lvl="0" indent="0">
              <a:buNone/>
              <a:tabLst>
                <a:tab pos="457200" algn="l"/>
              </a:tabLst>
            </a:pP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p:txBody>
      </p:sp>
      <p:pic>
        <p:nvPicPr>
          <p:cNvPr id="1030" name="Picture 6" descr="Chitkara University">
            <a:extLst>
              <a:ext uri="{FF2B5EF4-FFF2-40B4-BE49-F238E27FC236}">
                <a16:creationId xmlns:a16="http://schemas.microsoft.com/office/drawing/2014/main" id="{0E7B22D9-DB8F-D815-6016-CEC874D416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2945" y="-13854"/>
            <a:ext cx="4178012" cy="858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966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95931-708F-8A31-91AE-FD2FC5D38929}"/>
              </a:ext>
            </a:extLst>
          </p:cNvPr>
          <p:cNvSpPr>
            <a:spLocks noGrp="1"/>
          </p:cNvSpPr>
          <p:nvPr>
            <p:ph type="title"/>
          </p:nvPr>
        </p:nvSpPr>
        <p:spPr/>
        <p:txBody>
          <a:bodyPr>
            <a:normAutofit fontScale="90000"/>
          </a:bodyPr>
          <a:lstStyle/>
          <a:p>
            <a:r>
              <a:rPr lang="en-US" sz="3600" b="1" u="sng" dirty="0">
                <a:effectLst/>
                <a:latin typeface="Times New Roman" panose="02020603050405020304" pitchFamily="18" charset="0"/>
                <a:ea typeface="Times New Roman" panose="02020603050405020304" pitchFamily="18" charset="0"/>
              </a:rPr>
              <a:t>TECHNICAL DETAILS</a:t>
            </a:r>
            <a:br>
              <a:rPr lang="en-IN" sz="1800" dirty="0">
                <a:effectLst/>
                <a:latin typeface="Times New Roman" panose="02020603050405020304" pitchFamily="18" charset="0"/>
                <a:ea typeface="Times New Roman" panose="02020603050405020304" pitchFamily="18" charset="0"/>
              </a:rPr>
            </a:br>
            <a:r>
              <a:rPr lang="en-US" sz="1800" b="1" u="none" strike="noStrike" dirty="0">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C206E94-9773-4D10-FB69-454FA19795F1}"/>
              </a:ext>
            </a:extLst>
          </p:cNvPr>
          <p:cNvSpPr>
            <a:spLocks noGrp="1"/>
          </p:cNvSpPr>
          <p:nvPr>
            <p:ph idx="1"/>
          </p:nvPr>
        </p:nvSpPr>
        <p:spPr>
          <a:xfrm>
            <a:off x="1103312" y="1413164"/>
            <a:ext cx="8946541" cy="4835235"/>
          </a:xfrm>
        </p:spPr>
        <p:txBody>
          <a:bodyPr>
            <a:normAutofit fontScale="92500"/>
          </a:bodyPr>
          <a:lstStyle/>
          <a:p>
            <a:pPr marL="342900" lvl="0" indent="-342900">
              <a:buFont typeface="+mj-lt"/>
              <a:buAutoNum type="arabicPeriod"/>
            </a:pPr>
            <a:r>
              <a:rPr lang="en-US" b="1" dirty="0">
                <a:effectLst/>
                <a:latin typeface="Times New Roman" panose="02020603050405020304" pitchFamily="18" charset="0"/>
                <a:ea typeface="Times New Roman" panose="02020603050405020304" pitchFamily="18" charset="0"/>
              </a:rPr>
              <a:t>WEB DEVELOPMENT STACK- </a:t>
            </a:r>
            <a:r>
              <a:rPr lang="en-US" dirty="0">
                <a:effectLst/>
                <a:latin typeface="Times New Roman" panose="02020603050405020304" pitchFamily="18" charset="0"/>
                <a:ea typeface="Times New Roman" panose="02020603050405020304" pitchFamily="18" charset="0"/>
              </a:rPr>
              <a:t>IN  Eat 24 we have recently used html and CSS in front end and later we will be going on with the java script and python in backend</a:t>
            </a:r>
            <a:endParaRPr lang="en-IN"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b="1" dirty="0">
                <a:effectLst/>
                <a:latin typeface="Times New Roman" panose="02020603050405020304" pitchFamily="18" charset="0"/>
                <a:ea typeface="Times New Roman" panose="02020603050405020304" pitchFamily="18" charset="0"/>
              </a:rPr>
              <a:t>USER INTERFACE-</a:t>
            </a:r>
            <a:r>
              <a:rPr lang="en-US" dirty="0">
                <a:effectLst/>
                <a:latin typeface="Times New Roman" panose="02020603050405020304" pitchFamily="18" charset="0"/>
                <a:ea typeface="Times New Roman" panose="02020603050405020304" pitchFamily="18" charset="0"/>
              </a:rPr>
              <a:t>we have created a responsive and a user friendly food ordering website </a:t>
            </a:r>
            <a:endParaRPr lang="en-IN"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b="1" dirty="0">
                <a:effectLst/>
                <a:latin typeface="Times New Roman" panose="02020603050405020304" pitchFamily="18" charset="0"/>
                <a:ea typeface="Times New Roman" panose="02020603050405020304" pitchFamily="18" charset="0"/>
              </a:rPr>
              <a:t>MENU MANAGEMENT-</a:t>
            </a:r>
            <a:r>
              <a:rPr lang="en-US" b="1" u="sng"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In our menu we have provided various options for user such as north Indian, south Indian, snacks, chai and coffee, ice cream, fast food</a:t>
            </a:r>
            <a:endParaRPr lang="en-IN"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b="1" dirty="0">
                <a:effectLst/>
                <a:latin typeface="Times New Roman" panose="02020603050405020304" pitchFamily="18" charset="0"/>
                <a:ea typeface="Times New Roman" panose="02020603050405020304" pitchFamily="18" charset="0"/>
              </a:rPr>
              <a:t>ORDERING SITE-</a:t>
            </a:r>
            <a:r>
              <a:rPr lang="en-US" dirty="0">
                <a:effectLst/>
                <a:latin typeface="Times New Roman" panose="02020603050405020304" pitchFamily="18" charset="0"/>
                <a:ea typeface="Times New Roman" panose="02020603050405020304" pitchFamily="18" charset="0"/>
              </a:rPr>
              <a:t>In our website till we are providing the facility of the cash on delivery to the user and later on we will be providing options for online delivery also</a:t>
            </a:r>
            <a:endParaRPr lang="en-IN"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2200" b="1" dirty="0">
                <a:effectLst/>
                <a:latin typeface="Times New Roman" panose="02020603050405020304" pitchFamily="18" charset="0"/>
                <a:ea typeface="Times New Roman" panose="02020603050405020304" pitchFamily="18" charset="0"/>
              </a:rPr>
              <a:t>RATING AND REVIEWS-</a:t>
            </a:r>
            <a:r>
              <a:rPr lang="en-US" sz="2200" dirty="0">
                <a:effectLst/>
                <a:latin typeface="Times New Roman" panose="02020603050405020304" pitchFamily="18" charset="0"/>
                <a:ea typeface="Times New Roman" panose="02020603050405020304" pitchFamily="18" charset="0"/>
              </a:rPr>
              <a:t> After visiting our website please share your ratings so that we can improve our website for the next time and give user the best experience</a:t>
            </a:r>
            <a:endParaRPr lang="en-IN" sz="22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2200" b="1" dirty="0">
                <a:effectLst/>
                <a:latin typeface="Times New Roman" panose="02020603050405020304" pitchFamily="18" charset="0"/>
                <a:ea typeface="Times New Roman" panose="02020603050405020304" pitchFamily="18" charset="0"/>
              </a:rPr>
              <a:t>MOBILE APP-</a:t>
            </a:r>
            <a:r>
              <a:rPr lang="en-US" sz="2200" dirty="0">
                <a:effectLst/>
                <a:latin typeface="Times New Roman" panose="02020603050405020304" pitchFamily="18" charset="0"/>
                <a:ea typeface="Times New Roman" panose="02020603050405020304" pitchFamily="18" charset="0"/>
              </a:rPr>
              <a:t> Till now we are available at website only but soon we will be providing online ordering app to our users</a:t>
            </a:r>
            <a:endParaRPr lang="en-IN" sz="2200" dirty="0">
              <a:effectLst/>
              <a:latin typeface="Times New Roman" panose="02020603050405020304" pitchFamily="18" charset="0"/>
              <a:ea typeface="Times New Roman" panose="02020603050405020304" pitchFamily="18" charset="0"/>
            </a:endParaRPr>
          </a:p>
          <a:p>
            <a:pPr marL="457200" indent="-457835"/>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endParaRPr lang="en-IN" dirty="0"/>
          </a:p>
        </p:txBody>
      </p:sp>
      <p:pic>
        <p:nvPicPr>
          <p:cNvPr id="6146" name="Picture 2" descr="Chitkara University">
            <a:extLst>
              <a:ext uri="{FF2B5EF4-FFF2-40B4-BE49-F238E27FC236}">
                <a16:creationId xmlns:a16="http://schemas.microsoft.com/office/drawing/2014/main" id="{E3991AD5-53F7-AD4E-EAAD-6703082CB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5964" y="-13855"/>
            <a:ext cx="4281054" cy="831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5951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F8746-3B72-51BB-2D56-C35012A7FD93}"/>
              </a:ext>
            </a:extLst>
          </p:cNvPr>
          <p:cNvSpPr>
            <a:spLocks noGrp="1"/>
          </p:cNvSpPr>
          <p:nvPr>
            <p:ph type="title"/>
          </p:nvPr>
        </p:nvSpPr>
        <p:spPr>
          <a:xfrm>
            <a:off x="1261872" y="318656"/>
            <a:ext cx="9692640" cy="1136071"/>
          </a:xfrm>
        </p:spPr>
        <p:txBody>
          <a:bodyPr/>
          <a:lstStyle/>
          <a:p>
            <a:r>
              <a:rPr lang="en-IN" dirty="0"/>
              <a:t>PROJECT HIGHLIGHTS</a:t>
            </a:r>
          </a:p>
        </p:txBody>
      </p:sp>
      <p:pic>
        <p:nvPicPr>
          <p:cNvPr id="5" name="Picture 4">
            <a:extLst>
              <a:ext uri="{FF2B5EF4-FFF2-40B4-BE49-F238E27FC236}">
                <a16:creationId xmlns:a16="http://schemas.microsoft.com/office/drawing/2014/main" id="{2C28B2A7-696B-BCA8-EFE1-79807FD6A38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65563"/>
            <a:ext cx="10305269" cy="4973781"/>
          </a:xfrm>
          <a:prstGeom prst="rect">
            <a:avLst/>
          </a:prstGeom>
          <a:noFill/>
        </p:spPr>
      </p:pic>
      <p:pic>
        <p:nvPicPr>
          <p:cNvPr id="7170" name="Picture 2" descr="Chitkara University">
            <a:extLst>
              <a:ext uri="{FF2B5EF4-FFF2-40B4-BE49-F238E27FC236}">
                <a16:creationId xmlns:a16="http://schemas.microsoft.com/office/drawing/2014/main" id="{C717493A-704A-EA35-A589-1C6B8355A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5127" y="0"/>
            <a:ext cx="4447308" cy="845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220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124804-8A60-65BA-1434-A8456FF54088}"/>
              </a:ext>
            </a:extLst>
          </p:cNvPr>
          <p:cNvPicPr>
            <a:picLocks noChangeAspect="1"/>
          </p:cNvPicPr>
          <p:nvPr/>
        </p:nvPicPr>
        <p:blipFill>
          <a:blip r:embed="rId2"/>
          <a:stretch>
            <a:fillRect/>
          </a:stretch>
        </p:blipFill>
        <p:spPr>
          <a:xfrm>
            <a:off x="0" y="0"/>
            <a:ext cx="12191999" cy="7024255"/>
          </a:xfrm>
          <a:prstGeom prst="rect">
            <a:avLst/>
          </a:prstGeom>
        </p:spPr>
      </p:pic>
    </p:spTree>
    <p:extLst>
      <p:ext uri="{BB962C8B-B14F-4D97-AF65-F5344CB8AC3E}">
        <p14:creationId xmlns:p14="http://schemas.microsoft.com/office/powerpoint/2010/main" val="1605060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B03E14-421E-D805-52B5-7E2599A6EE8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7024255"/>
          </a:xfrm>
          <a:prstGeom prst="rect">
            <a:avLst/>
          </a:prstGeom>
          <a:noFill/>
          <a:ln>
            <a:noFill/>
          </a:ln>
        </p:spPr>
      </p:pic>
    </p:spTree>
    <p:extLst>
      <p:ext uri="{BB962C8B-B14F-4D97-AF65-F5344CB8AC3E}">
        <p14:creationId xmlns:p14="http://schemas.microsoft.com/office/powerpoint/2010/main" val="326876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hitkara University">
            <a:extLst>
              <a:ext uri="{FF2B5EF4-FFF2-40B4-BE49-F238E27FC236}">
                <a16:creationId xmlns:a16="http://schemas.microsoft.com/office/drawing/2014/main" id="{21F5C003-C76A-AE90-BC07-91F0D7A82F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6799" y="-13856"/>
            <a:ext cx="4142510" cy="8728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9EA048C-6899-1843-7670-4C0541C323FE}"/>
              </a:ext>
            </a:extLst>
          </p:cNvPr>
          <p:cNvPicPr>
            <a:picLocks noChangeAspect="1"/>
          </p:cNvPicPr>
          <p:nvPr/>
        </p:nvPicPr>
        <p:blipFill>
          <a:blip r:embed="rId3"/>
          <a:stretch>
            <a:fillRect/>
          </a:stretch>
        </p:blipFill>
        <p:spPr>
          <a:xfrm>
            <a:off x="1" y="-13857"/>
            <a:ext cx="12330544" cy="7301347"/>
          </a:xfrm>
          <a:prstGeom prst="rect">
            <a:avLst/>
          </a:prstGeom>
        </p:spPr>
      </p:pic>
    </p:spTree>
    <p:extLst>
      <p:ext uri="{BB962C8B-B14F-4D97-AF65-F5344CB8AC3E}">
        <p14:creationId xmlns:p14="http://schemas.microsoft.com/office/powerpoint/2010/main" val="2436345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5751-73C6-5B18-C445-2A65FFCCD7E5}"/>
              </a:ext>
            </a:extLst>
          </p:cNvPr>
          <p:cNvSpPr>
            <a:spLocks noGrp="1"/>
          </p:cNvSpPr>
          <p:nvPr>
            <p:ph type="title"/>
          </p:nvPr>
        </p:nvSpPr>
        <p:spPr>
          <a:xfrm>
            <a:off x="1261872" y="221673"/>
            <a:ext cx="9692640" cy="1149928"/>
          </a:xfrm>
        </p:spPr>
        <p:txBody>
          <a:bodyPr>
            <a:normAutofit/>
          </a:bodyPr>
          <a:lstStyle/>
          <a:p>
            <a:r>
              <a:rPr lang="en-US" sz="3600" b="1" dirty="0">
                <a:effectLst/>
                <a:latin typeface="Times New Roman" panose="02020603050405020304" pitchFamily="18" charset="0"/>
                <a:ea typeface="Times New Roman" panose="02020603050405020304" pitchFamily="18" charset="0"/>
              </a:rPr>
              <a:t>CONCLUSION</a:t>
            </a:r>
            <a:br>
              <a:rPr lang="en-IN" sz="3600" dirty="0">
                <a:effectLst/>
                <a:latin typeface="Times New Roman" panose="02020603050405020304" pitchFamily="18" charset="0"/>
                <a:ea typeface="Times New Roman" panose="02020603050405020304" pitchFamily="18" charset="0"/>
              </a:rPr>
            </a:br>
            <a:endParaRPr lang="en-IN" sz="3600" dirty="0"/>
          </a:p>
        </p:txBody>
      </p:sp>
      <p:sp>
        <p:nvSpPr>
          <p:cNvPr id="3" name="Content Placeholder 2">
            <a:extLst>
              <a:ext uri="{FF2B5EF4-FFF2-40B4-BE49-F238E27FC236}">
                <a16:creationId xmlns:a16="http://schemas.microsoft.com/office/drawing/2014/main" id="{F086182B-AC63-A38E-F5C6-48C346612FB0}"/>
              </a:ext>
            </a:extLst>
          </p:cNvPr>
          <p:cNvSpPr>
            <a:spLocks noGrp="1"/>
          </p:cNvSpPr>
          <p:nvPr>
            <p:ph idx="1"/>
          </p:nvPr>
        </p:nvSpPr>
        <p:spPr>
          <a:xfrm>
            <a:off x="1261872" y="942109"/>
            <a:ext cx="8595360" cy="5915891"/>
          </a:xfrm>
        </p:spPr>
        <p:txBody>
          <a:bodyPr/>
          <a:lstStyle/>
          <a:p>
            <a:pPr marL="0" indent="0">
              <a:buNone/>
            </a:pPr>
            <a:r>
              <a:rPr lang="en-IN" sz="1800" dirty="0">
                <a:effectLst/>
                <a:latin typeface="Times New Roman" panose="02020603050405020304" pitchFamily="18" charset="0"/>
                <a:ea typeface="Times New Roman" panose="02020603050405020304" pitchFamily="18" charset="0"/>
              </a:rPr>
              <a:t>In conclusion, our food ordering site project, Eat 24, represents a significant leap forward in the culinary industry, addressing critical challenges faced by both customers and restaurant owners. Throughout this </a:t>
            </a:r>
            <a:r>
              <a:rPr lang="en-IN" sz="1800" dirty="0" err="1">
                <a:effectLst/>
                <a:latin typeface="Times New Roman" panose="02020603050405020304" pitchFamily="18" charset="0"/>
                <a:ea typeface="Times New Roman" panose="02020603050405020304" pitchFamily="18" charset="0"/>
              </a:rPr>
              <a:t>endeavor</a:t>
            </a:r>
            <a:r>
              <a:rPr lang="en-IN" sz="1800" dirty="0">
                <a:effectLst/>
                <a:latin typeface="Times New Roman" panose="02020603050405020304" pitchFamily="18" charset="0"/>
                <a:ea typeface="Times New Roman" panose="02020603050405020304" pitchFamily="18" charset="0"/>
              </a:rPr>
              <a:t>, we have harnessed technology and innovation to create a robust and user-friendly platform that redefines the food ordering experience.</a:t>
            </a:r>
          </a:p>
          <a:p>
            <a:pPr marL="0" indent="0">
              <a:buNone/>
            </a:pPr>
            <a:r>
              <a:rPr lang="en-IN" sz="1800" dirty="0">
                <a:effectLst/>
                <a:latin typeface="Times New Roman" panose="02020603050405020304" pitchFamily="18" charset="0"/>
                <a:ea typeface="Times New Roman" panose="02020603050405020304" pitchFamily="18" charset="0"/>
              </a:rPr>
              <a:t>By focusing on solving the problems associated with traditional food ordering methods, we have provided a comprehensive solution. Customers can now effortlessly explore menus, customize orders, and make secure payments while enjoying personalized recommendations and real-time notifications. On the other hand, restaurant owners benefit from an efficient inventory management system, data analytics insights, and a unified platform to reach a wider customer base.</a:t>
            </a:r>
          </a:p>
          <a:p>
            <a:pPr marL="0" indent="0">
              <a:buNone/>
            </a:pPr>
            <a:r>
              <a:rPr lang="en-IN" sz="1800" dirty="0">
                <a:effectLst/>
                <a:latin typeface="Times New Roman" panose="02020603050405020304" pitchFamily="18" charset="0"/>
                <a:ea typeface="Times New Roman" panose="02020603050405020304" pitchFamily="18" charset="0"/>
              </a:rPr>
              <a:t>Eat 24 is not just a food ordering site; it's a culinary journey that combines the love for food with cutting-edge technology. It is our vision to connect people with their </a:t>
            </a:r>
            <a:r>
              <a:rPr lang="en-IN" sz="1800" dirty="0" err="1">
                <a:effectLst/>
                <a:latin typeface="Times New Roman" panose="02020603050405020304" pitchFamily="18" charset="0"/>
                <a:ea typeface="Times New Roman" panose="02020603050405020304" pitchFamily="18" charset="0"/>
              </a:rPr>
              <a:t>favorite</a:t>
            </a:r>
            <a:r>
              <a:rPr lang="en-IN" sz="1800" dirty="0">
                <a:effectLst/>
                <a:latin typeface="Times New Roman" panose="02020603050405020304" pitchFamily="18" charset="0"/>
                <a:ea typeface="Times New Roman" panose="02020603050405020304" pitchFamily="18" charset="0"/>
              </a:rPr>
              <a:t> meals in a way that is accessible, convenient, and enjoyable. We are excited to see Eat 24 flourish and make a positive impact on the food industry, bringing joy and satisfaction to both customers and restaurant owners alike.</a:t>
            </a:r>
          </a:p>
          <a:p>
            <a:pPr marL="0" indent="0">
              <a:buNone/>
            </a:pPr>
            <a:r>
              <a:rPr lang="en-IN" sz="1800" dirty="0">
                <a:effectLst/>
                <a:latin typeface="Times New Roman" panose="02020603050405020304" pitchFamily="18" charset="0"/>
                <a:ea typeface="Times New Roman" panose="02020603050405020304" pitchFamily="18" charset="0"/>
              </a:rPr>
              <a:t>We extend our gratitude to all the stakeholders, team members, and partners who have been part of this project, and we look forward to a future filled with culinary delights and technological excellence.</a:t>
            </a:r>
          </a:p>
          <a:p>
            <a:pPr marL="0" indent="0">
              <a:buNone/>
            </a:pPr>
            <a:endParaRPr lang="en-IN" dirty="0"/>
          </a:p>
        </p:txBody>
      </p:sp>
      <p:pic>
        <p:nvPicPr>
          <p:cNvPr id="8194" name="Picture 2" descr="Download Chitkara University Logo PNG and Vector (PDF, SVG, Ai, EPS) Free">
            <a:extLst>
              <a:ext uri="{FF2B5EF4-FFF2-40B4-BE49-F238E27FC236}">
                <a16:creationId xmlns:a16="http://schemas.microsoft.com/office/drawing/2014/main" id="{27A41B4F-BBF9-70E9-FCAB-59B4EB4E04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6691" y="0"/>
            <a:ext cx="4405746" cy="845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2013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Thank you Page Template">
            <a:extLst>
              <a:ext uri="{FF2B5EF4-FFF2-40B4-BE49-F238E27FC236}">
                <a16:creationId xmlns:a16="http://schemas.microsoft.com/office/drawing/2014/main" id="{D6C2DA8B-73ED-459A-4371-B335BCB4B4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0632483"/>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2007</TotalTime>
  <Words>955</Words>
  <Application>Microsoft Office PowerPoint</Application>
  <PresentationFormat>Widescreen</PresentationFormat>
  <Paragraphs>55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 Schoolbook</vt:lpstr>
      <vt:lpstr>Times New Roman</vt:lpstr>
      <vt:lpstr>Wingdings 2</vt:lpstr>
      <vt:lpstr>View</vt:lpstr>
      <vt:lpstr>                       FRONT END ENGINEERING-1                                             PROJECT 1 </vt:lpstr>
      <vt:lpstr>INTRODUCTION </vt:lpstr>
      <vt:lpstr>TABLE OF CONTENT </vt:lpstr>
      <vt:lpstr>PROBLEM STATEMENT </vt:lpstr>
      <vt:lpstr>TECHNICAL DETAILS   </vt:lpstr>
      <vt:lpstr>PROJECT HIGHLIGHTS</vt:lpstr>
      <vt:lpstr>PowerPoint Presentation</vt:lpstr>
      <vt:lpstr>PowerPoint Presentation</vt:lpstr>
      <vt:lpstr>PowerPoint Presentation</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 END ENGINEERING-1                                             PROJECT 1</dc:title>
  <dc:creator>Deepak Gupta</dc:creator>
  <cp:lastModifiedBy>KASHISH GUPTA</cp:lastModifiedBy>
  <cp:revision>2</cp:revision>
  <dcterms:created xsi:type="dcterms:W3CDTF">2023-10-11T20:04:32Z</dcterms:created>
  <dcterms:modified xsi:type="dcterms:W3CDTF">2023-10-13T05:32:00Z</dcterms:modified>
</cp:coreProperties>
</file>